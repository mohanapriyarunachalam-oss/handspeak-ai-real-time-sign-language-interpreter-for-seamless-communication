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0" r:id="rId1"/>
  </p:sldMasterIdLst>
  <p:sldIdLst>
    <p:sldId id="256" r:id="rId2"/>
    <p:sldId id="258" r:id="rId3"/>
    <p:sldId id="265" r:id="rId4"/>
    <p:sldId id="266" r:id="rId5"/>
    <p:sldId id="264" r:id="rId6"/>
    <p:sldId id="262" r:id="rId7"/>
    <p:sldId id="267" r:id="rId8"/>
    <p:sldId id="268" r:id="rId9"/>
    <p:sldId id="269" r:id="rId10"/>
    <p:sldId id="270" r:id="rId11"/>
    <p:sldId id="271" r:id="rId12"/>
    <p:sldId id="272" r:id="rId13"/>
    <p:sldId id="26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8" d="100"/>
          <a:sy n="68" d="100"/>
        </p:scale>
        <p:origin x="-798"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IN"/>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238605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2768297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lvl1pPr>
              <a:defRPr sz="1000" b="1"/>
            </a:lvl1p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4235244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380386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402338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1422197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3" name="Footer Placeholder 2"/>
          <p:cNvSpPr>
            <a:spLocks noGrp="1"/>
          </p:cNvSpPr>
          <p:nvPr>
            <p:ph type="ftr" sz="quarter" idx="11"/>
          </p:nvPr>
        </p:nvSpPr>
        <p:spPr/>
        <p:txBody>
          <a:bodyPr/>
          <a:lstStyle/>
          <a:p>
            <a:endParaRPr lang="en-IN"/>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155414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31950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6" name="Footer Placeholder 5"/>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988678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6" name="Footer Placeholder 5"/>
          <p:cNvSpPr>
            <a:spLocks noGrp="1"/>
          </p:cNvSpPr>
          <p:nvPr>
            <p:ph type="ftr" sz="quarter" idx="11"/>
          </p:nvPr>
        </p:nvSpPr>
        <p:spPr/>
        <p:txBody>
          <a:bodyPr/>
          <a:lstStyle/>
          <a:p>
            <a:endParaRPr lang="en-IN"/>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762874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4217020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smtClean="0"/>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p>
            <a:endParaRPr lang="en-IN"/>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202086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p>
            <a:endParaRPr lang="en-IN"/>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27331897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288415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14536274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26279015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0FE0EAC-85DC-4685-AE41-452CB5BD9BFC}" type="datetimeFigureOut">
              <a:rPr lang="en-IN" smtClean="0"/>
              <a:pPr/>
              <a:t>06-01-2026</a:t>
            </a:fld>
            <a:endParaRPr lang="en-IN"/>
          </a:p>
        </p:txBody>
      </p:sp>
      <p:sp>
        <p:nvSpPr>
          <p:cNvPr id="5" name="Footer Placeholder 4"/>
          <p:cNvSpPr>
            <a:spLocks noGrp="1"/>
          </p:cNvSpPr>
          <p:nvPr>
            <p:ph type="ftr" sz="quarter" idx="11"/>
          </p:nvPr>
        </p:nvSpPr>
        <p:spPr/>
        <p:txBody>
          <a:bodyPr/>
          <a:lstStyle/>
          <a:p>
            <a:endParaRPr lang="en-IN"/>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3947599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C0FE0EAC-85DC-4685-AE41-452CB5BD9BFC}" type="datetimeFigureOut">
              <a:rPr lang="en-IN" smtClean="0"/>
              <a:pPr/>
              <a:t>06-01-2026</a:t>
            </a:fld>
            <a:endParaRPr lang="en-IN"/>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IN"/>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302F958-37F6-4C5E-AA51-CF754735D7B8}" type="slidenum">
              <a:rPr lang="en-IN" smtClean="0"/>
              <a:pPr/>
              <a:t>‹#›</a:t>
            </a:fld>
            <a:endParaRPr lang="en-IN"/>
          </a:p>
        </p:txBody>
      </p:sp>
    </p:spTree>
    <p:extLst>
      <p:ext uri="{BB962C8B-B14F-4D97-AF65-F5344CB8AC3E}">
        <p14:creationId xmlns:p14="http://schemas.microsoft.com/office/powerpoint/2010/main" xmlns="" val="427909626"/>
      </p:ext>
    </p:extLst>
  </p:cSld>
  <p:clrMap bg1="lt1" tx1="dk1" bg2="lt2" tx2="dk2" accent1="accent1" accent2="accent2" accent3="accent3" accent4="accent4" accent5="accent5" accent6="accent6" hlink="hlink" folHlink="folHlink"/>
  <p:sldLayoutIdLst>
    <p:sldLayoutId id="2147484161" r:id="rId1"/>
    <p:sldLayoutId id="2147484162" r:id="rId2"/>
    <p:sldLayoutId id="2147484163" r:id="rId3"/>
    <p:sldLayoutId id="2147484164" r:id="rId4"/>
    <p:sldLayoutId id="2147484165" r:id="rId5"/>
    <p:sldLayoutId id="2147484166" r:id="rId6"/>
    <p:sldLayoutId id="2147484167" r:id="rId7"/>
    <p:sldLayoutId id="2147484168" r:id="rId8"/>
    <p:sldLayoutId id="2147484169" r:id="rId9"/>
    <p:sldLayoutId id="2147484170" r:id="rId10"/>
    <p:sldLayoutId id="2147484171" r:id="rId11"/>
    <p:sldLayoutId id="2147484172" r:id="rId12"/>
    <p:sldLayoutId id="2147484173" r:id="rId13"/>
    <p:sldLayoutId id="2147484174" r:id="rId14"/>
    <p:sldLayoutId id="2147484175" r:id="rId15"/>
    <p:sldLayoutId id="2147484176" r:id="rId16"/>
    <p:sldLayoutId id="21474841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intel.com/content/www/us/en/products/sku/235996/intel-core-i7-processor-14650hx-30m-cache-up-to-5-20-ghz/specifications.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40786" y="762063"/>
            <a:ext cx="8825658" cy="3622964"/>
          </a:xfrm>
        </p:spPr>
        <p:txBody>
          <a:bodyPr/>
          <a:lstStyle/>
          <a:p>
            <a:pPr algn="ctr"/>
            <a:r>
              <a:rPr lang="en-IN" sz="4000" b="1" u="sng" dirty="0" smtClean="0"/>
              <a:t>DEEP LEARNING–BASED HAND GESTURE RECOGNITION FOR SIGN LANGUAGE</a:t>
            </a:r>
            <a:r>
              <a:rPr lang="en-IN" sz="4000" u="sng" dirty="0" smtClean="0"/>
              <a:t> </a:t>
            </a:r>
            <a:r>
              <a:rPr lang="en-IN" sz="4000" b="1" u="sng" dirty="0" smtClean="0"/>
              <a:t>TRANSLATING VISUAL GESTURES INTO REAL-TIME TEXTUAL COMMUNICATION.</a:t>
            </a:r>
            <a:endParaRPr lang="en-US" sz="4000" dirty="0"/>
          </a:p>
        </p:txBody>
      </p:sp>
    </p:spTree>
    <p:extLst>
      <p:ext uri="{BB962C8B-B14F-4D97-AF65-F5344CB8AC3E}">
        <p14:creationId xmlns:p14="http://schemas.microsoft.com/office/powerpoint/2010/main" xmlns="" val="3600881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ABSTRACT : </a:t>
            </a:r>
            <a:endParaRPr lang="en-IN" dirty="0"/>
          </a:p>
        </p:txBody>
      </p:sp>
      <p:sp>
        <p:nvSpPr>
          <p:cNvPr id="3" name="Content Placeholder 2"/>
          <p:cNvSpPr>
            <a:spLocks noGrp="1"/>
          </p:cNvSpPr>
          <p:nvPr>
            <p:ph idx="1"/>
          </p:nvPr>
        </p:nvSpPr>
        <p:spPr>
          <a:xfrm>
            <a:off x="1154954" y="2729552"/>
            <a:ext cx="10409525" cy="4815572"/>
          </a:xfrm>
        </p:spPr>
        <p:txBody>
          <a:bodyPr>
            <a:noAutofit/>
          </a:bodyPr>
          <a:lstStyle/>
          <a:p>
            <a:pPr algn="just"/>
            <a:r>
              <a:rPr lang="en-IN" sz="1600" dirty="0" smtClean="0">
                <a:effectLst/>
              </a:rPr>
              <a:t>The </a:t>
            </a:r>
            <a:r>
              <a:rPr lang="en-IN" sz="1600" dirty="0">
                <a:effectLst/>
              </a:rPr>
              <a:t>proposed system, </a:t>
            </a:r>
            <a:r>
              <a:rPr lang="en-IN" sz="1600" b="1" dirty="0" err="1">
                <a:effectLst/>
              </a:rPr>
              <a:t>HandSpeak</a:t>
            </a:r>
            <a:r>
              <a:rPr lang="en-IN" sz="1600" b="1" dirty="0">
                <a:effectLst/>
              </a:rPr>
              <a:t> AI: Real-Time Sign Language Interpreter for Seamless Communication</a:t>
            </a:r>
            <a:r>
              <a:rPr lang="en-IN" sz="1600" dirty="0">
                <a:effectLst/>
              </a:rPr>
              <a:t>, aims to bridge the communication gap between the hearing-impaired community and the general public by providing an intelligent, real-time sign language recognition framework. Leveraging advanced </a:t>
            </a:r>
            <a:r>
              <a:rPr lang="en-IN" sz="1600" b="1" dirty="0">
                <a:effectLst/>
              </a:rPr>
              <a:t>Convolutional Neural Networks (CNNs)</a:t>
            </a:r>
            <a:r>
              <a:rPr lang="en-IN" sz="1600" dirty="0">
                <a:effectLst/>
              </a:rPr>
              <a:t> and </a:t>
            </a:r>
            <a:r>
              <a:rPr lang="en-IN" sz="1600" b="1" dirty="0">
                <a:effectLst/>
              </a:rPr>
              <a:t>computer vision techniques</a:t>
            </a:r>
            <a:r>
              <a:rPr lang="en-IN" sz="1600" dirty="0">
                <a:effectLst/>
              </a:rPr>
              <a:t>, the system captures hand gestures through accurately interprets signs representing alphabets </a:t>
            </a:r>
            <a:r>
              <a:rPr lang="en-IN" sz="1600" b="1" dirty="0">
                <a:effectLst/>
              </a:rPr>
              <a:t>A to Z</a:t>
            </a:r>
            <a:r>
              <a:rPr lang="en-IN" sz="1600" dirty="0">
                <a:effectLst/>
              </a:rPr>
              <a:t> of sign language. The recognized signs are instantly converted into readable text or accessible interactions in diverse social and professional settings. Designed to operate efficiently on both desktop and Web platforms, this AI-powered interpreter promotes inclusivity, enhances accessibility, and empowers users with improved communication capabilities in real-time.</a:t>
            </a:r>
          </a:p>
          <a:p>
            <a:pPr algn="just"/>
            <a:r>
              <a:rPr lang="en-IN" sz="1600" b="1" dirty="0">
                <a:effectLst/>
              </a:rPr>
              <a:t>Keywords:</a:t>
            </a:r>
            <a:r>
              <a:rPr lang="en-IN" sz="1600" dirty="0">
                <a:effectLst/>
              </a:rPr>
              <a:t/>
            </a:r>
            <a:br>
              <a:rPr lang="en-IN" sz="1600" dirty="0">
                <a:effectLst/>
              </a:rPr>
            </a:br>
            <a:r>
              <a:rPr lang="en-IN" sz="1600" dirty="0">
                <a:effectLst/>
              </a:rPr>
              <a:t>Sign Language Recognition, Real-Time Interpreter, </a:t>
            </a:r>
            <a:r>
              <a:rPr lang="en-IN" sz="1600" dirty="0" err="1">
                <a:effectLst/>
              </a:rPr>
              <a:t>HandSpeak</a:t>
            </a:r>
            <a:r>
              <a:rPr lang="en-IN" sz="1600" dirty="0">
                <a:effectLst/>
              </a:rPr>
              <a:t> AI, CNN, Computer Vision, A-Z Hand Signs, Accessibility, Inclusivity, Human-Computer Interaction, Deaf Communication</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59849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EXISTING SYSTEM:</a:t>
            </a:r>
            <a:r>
              <a:rPr lang="en-IN" dirty="0"/>
              <a:t/>
            </a:r>
            <a:br>
              <a:rPr lang="en-IN" dirty="0"/>
            </a:br>
            <a:endParaRPr lang="en-IN" dirty="0"/>
          </a:p>
        </p:txBody>
      </p:sp>
      <p:sp>
        <p:nvSpPr>
          <p:cNvPr id="10" name="Rectangle 7"/>
          <p:cNvSpPr>
            <a:spLocks noGrp="1" noChangeArrowheads="1"/>
          </p:cNvSpPr>
          <p:nvPr>
            <p:ph idx="1"/>
          </p:nvPr>
        </p:nvSpPr>
        <p:spPr bwMode="auto">
          <a:xfrm>
            <a:off x="801858" y="2228356"/>
            <a:ext cx="11183816" cy="34305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sz="1400" dirty="0">
                <a:effectLst/>
              </a:rPr>
              <a:t>Continuous sign language recognition (CSLR) plays a crucial role in facilitating communication between deaf and hearing individuals. A key aspect of achieving precise CSLR is the alignment of the video segment of each sign with its gloss, namely its corresponding text representation in natural language. However, the </a:t>
            </a:r>
            <a:r>
              <a:rPr lang="en-IN" sz="1400" dirty="0" err="1">
                <a:effectLst/>
              </a:rPr>
              <a:t>coarticulation</a:t>
            </a:r>
            <a:r>
              <a:rPr lang="en-IN" sz="1400" dirty="0">
                <a:effectLst/>
              </a:rPr>
              <a:t> phenomenon, where contextual dependencies between adjacent signs blur the boundaries of individual signs, poses a significant challenge to this task. In this paper, we propose a novel boundary-aware sentence-gloss alignment network for CSLR to address this challenge. Our network first designs a task-relevant boundary-aware similarity measurement, evaluating sign frames by both appearance and their recognition contribution, mitigating </a:t>
            </a:r>
            <a:r>
              <a:rPr lang="en-IN" sz="1400" dirty="0" err="1">
                <a:effectLst/>
              </a:rPr>
              <a:t>coarticulation</a:t>
            </a:r>
            <a:r>
              <a:rPr lang="en-IN" sz="1400" dirty="0">
                <a:effectLst/>
              </a:rPr>
              <a:t>-induced transition noise to restore precise boundaries. For enhanced alignment, we propose a hierarchical sentence-gloss alignment: coarse sentence-level alignment reduces cross-modal disparity, while fine-grained gloss-level alignment refines video-to-token mapping. Finally, an adaptive class-divergence loss sharpens gloss decoding by maximizing inter-class discrimination. Our proposed framework provides a simple and effective solution to mitigate the boundary ambiguity caused by </a:t>
            </a:r>
            <a:r>
              <a:rPr lang="en-IN" sz="1400" dirty="0" err="1">
                <a:effectLst/>
              </a:rPr>
              <a:t>coarticulation</a:t>
            </a:r>
            <a:r>
              <a:rPr lang="en-IN" sz="1400" dirty="0">
                <a:effectLst/>
              </a:rPr>
              <a:t>, optimizing continuous sign language recognition algorithms from a new perspective. Extensive experiments conducted on four public sign language recognition (SLR) datasets demonstrate that our proposed boundary-aware sentence-gloss alignment network learns precise alignments and achieves state-of-the-art performance.</a:t>
            </a:r>
            <a:r>
              <a:rPr lang="en-IN" sz="1400" b="1" dirty="0">
                <a:effectLst/>
              </a:rPr>
              <a:t> </a:t>
            </a:r>
            <a:endParaRPr lang="en-IN" sz="1400" dirty="0">
              <a:effectLst/>
            </a:endParaRPr>
          </a:p>
        </p:txBody>
      </p:sp>
    </p:spTree>
    <p:extLst>
      <p:ext uri="{BB962C8B-B14F-4D97-AF65-F5344CB8AC3E}">
        <p14:creationId xmlns:p14="http://schemas.microsoft.com/office/powerpoint/2010/main" xmlns="" val="2236479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DISADVANTAGES:</a:t>
            </a:r>
            <a:r>
              <a:rPr lang="en-IN" dirty="0"/>
              <a:t/>
            </a:r>
            <a:br>
              <a:rPr lang="en-IN" dirty="0"/>
            </a:br>
            <a:endParaRPr lang="en-IN" dirty="0"/>
          </a:p>
        </p:txBody>
      </p:sp>
      <p:sp>
        <p:nvSpPr>
          <p:cNvPr id="3" name="Content Placeholder 2"/>
          <p:cNvSpPr>
            <a:spLocks noGrp="1"/>
          </p:cNvSpPr>
          <p:nvPr>
            <p:ph idx="1"/>
          </p:nvPr>
        </p:nvSpPr>
        <p:spPr/>
        <p:txBody>
          <a:bodyPr>
            <a:normAutofit/>
          </a:bodyPr>
          <a:lstStyle/>
          <a:p>
            <a:pPr lvl="0"/>
            <a:r>
              <a:rPr lang="en-IN" b="1" dirty="0">
                <a:effectLst/>
              </a:rPr>
              <a:t>High computational cost</a:t>
            </a:r>
            <a:r>
              <a:rPr lang="en-IN" dirty="0">
                <a:effectLst/>
              </a:rPr>
              <a:t> due to complex boundary-aware similarity and hierarchical alignment processes.</a:t>
            </a:r>
          </a:p>
          <a:p>
            <a:pPr lvl="0"/>
            <a:r>
              <a:rPr lang="en-IN" b="1" dirty="0">
                <a:effectLst/>
              </a:rPr>
              <a:t>Requires large annotated datasets</a:t>
            </a:r>
            <a:r>
              <a:rPr lang="en-IN" dirty="0">
                <a:effectLst/>
              </a:rPr>
              <a:t> with precise sentence-gloss alignment for effective training.</a:t>
            </a:r>
          </a:p>
          <a:p>
            <a:pPr lvl="0"/>
            <a:r>
              <a:rPr lang="en-IN" b="1" dirty="0">
                <a:effectLst/>
              </a:rPr>
              <a:t>Sensitive to video quality</a:t>
            </a:r>
            <a:r>
              <a:rPr lang="en-IN" dirty="0">
                <a:effectLst/>
              </a:rPr>
              <a:t> and hand gesture occlusions, affecting recognition accuracy.</a:t>
            </a:r>
          </a:p>
          <a:p>
            <a:pPr lvl="0"/>
            <a:r>
              <a:rPr lang="en-IN" b="1" dirty="0">
                <a:effectLst/>
              </a:rPr>
              <a:t>Struggles with performance</a:t>
            </a:r>
            <a:r>
              <a:rPr lang="en-IN" dirty="0">
                <a:effectLst/>
              </a:rPr>
              <a:t> on low-resource or mobile devices due to heavy model complexity.</a:t>
            </a:r>
          </a:p>
          <a:p>
            <a:pPr lvl="0"/>
            <a:r>
              <a:rPr lang="en-IN" b="1" dirty="0" err="1">
                <a:effectLst/>
              </a:rPr>
              <a:t>Coarticulation</a:t>
            </a:r>
            <a:r>
              <a:rPr lang="en-IN" b="1" dirty="0">
                <a:effectLst/>
              </a:rPr>
              <a:t> effects may still persist</a:t>
            </a:r>
            <a:r>
              <a:rPr lang="en-IN" dirty="0">
                <a:effectLst/>
              </a:rPr>
              <a:t> in highly dynamic or rapid signing sequences.</a:t>
            </a:r>
          </a:p>
          <a:p>
            <a:pPr marL="0" indent="0" algn="just">
              <a:buNone/>
            </a:pPr>
            <a:endParaRPr lang="en-IN" dirty="0"/>
          </a:p>
        </p:txBody>
      </p:sp>
    </p:spTree>
    <p:extLst>
      <p:ext uri="{BB962C8B-B14F-4D97-AF65-F5344CB8AC3E}">
        <p14:creationId xmlns:p14="http://schemas.microsoft.com/office/powerpoint/2010/main" xmlns="" val="1600430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PROPOSED SYSTEM:</a:t>
            </a:r>
            <a:r>
              <a:rPr lang="en-IN" dirty="0"/>
              <a:t/>
            </a:r>
            <a:br>
              <a:rPr lang="en-IN" dirty="0"/>
            </a:br>
            <a:endParaRPr lang="en-IN" dirty="0"/>
          </a:p>
        </p:txBody>
      </p:sp>
      <p:sp>
        <p:nvSpPr>
          <p:cNvPr id="3" name="Content Placeholder 2"/>
          <p:cNvSpPr>
            <a:spLocks noGrp="1"/>
          </p:cNvSpPr>
          <p:nvPr>
            <p:ph idx="1"/>
          </p:nvPr>
        </p:nvSpPr>
        <p:spPr>
          <a:xfrm>
            <a:off x="982034" y="2723861"/>
            <a:ext cx="10353762" cy="3695136"/>
          </a:xfrm>
        </p:spPr>
        <p:txBody>
          <a:bodyPr>
            <a:normAutofit/>
          </a:bodyPr>
          <a:lstStyle/>
          <a:p>
            <a:pPr algn="just"/>
            <a:r>
              <a:rPr lang="en-IN" dirty="0">
                <a:effectLst/>
              </a:rPr>
              <a:t>The proposed system, </a:t>
            </a:r>
            <a:r>
              <a:rPr lang="en-IN" b="1" dirty="0" err="1">
                <a:effectLst/>
              </a:rPr>
              <a:t>HandSpeak</a:t>
            </a:r>
            <a:r>
              <a:rPr lang="en-IN" b="1" dirty="0">
                <a:effectLst/>
              </a:rPr>
              <a:t> AI: Real-Time Sign Language Interpreter for Seamless Communication</a:t>
            </a:r>
            <a:r>
              <a:rPr lang="en-IN" dirty="0">
                <a:effectLst/>
              </a:rPr>
              <a:t>, aims to develop an intelligent, real-time hand gesture recognition framework capable of accurately interpreting the Sign Language (SL) alphabet from A to Z. By leveraging advanced Convolutional Neural Network (CNN) architectures and computer vision techniques, the system will process live video streams to detect and classify hand gestures corresponding to each alphabet letter. This AI-powered solution is designed to bridge communication gaps between hearing-impaired individuals and non-signers by instantly translating recognized hand signs into readable text outputs. The system will be optimized for deployment on web platforms, and assistive communication tools, ensuring accessibility, efficiency, and inclusivity in various social, educational, and professional environments.</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33530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PROPOSED SYSTEM ADVANTAGES:</a:t>
            </a:r>
            <a:endParaRPr lang="en-IN" dirty="0"/>
          </a:p>
        </p:txBody>
      </p:sp>
      <p:sp>
        <p:nvSpPr>
          <p:cNvPr id="3" name="Content Placeholder 2"/>
          <p:cNvSpPr>
            <a:spLocks noGrp="1"/>
          </p:cNvSpPr>
          <p:nvPr>
            <p:ph idx="1"/>
          </p:nvPr>
        </p:nvSpPr>
        <p:spPr/>
        <p:txBody>
          <a:bodyPr>
            <a:normAutofit/>
          </a:bodyPr>
          <a:lstStyle/>
          <a:p>
            <a:pPr lvl="0"/>
            <a:r>
              <a:rPr lang="en-IN" b="1" dirty="0">
                <a:effectLst/>
              </a:rPr>
              <a:t>Enables real-time translation</a:t>
            </a:r>
            <a:r>
              <a:rPr lang="en-IN" dirty="0">
                <a:effectLst/>
              </a:rPr>
              <a:t> of sign language alphabets into text.</a:t>
            </a:r>
          </a:p>
          <a:p>
            <a:pPr lvl="0"/>
            <a:r>
              <a:rPr lang="en-IN" b="1" dirty="0">
                <a:effectLst/>
              </a:rPr>
              <a:t>Leverages advanced computer vision</a:t>
            </a:r>
            <a:r>
              <a:rPr lang="en-IN" dirty="0">
                <a:effectLst/>
              </a:rPr>
              <a:t> for high-accuracy recognition.</a:t>
            </a:r>
          </a:p>
          <a:p>
            <a:pPr lvl="0"/>
            <a:r>
              <a:rPr lang="en-IN" b="1" dirty="0">
                <a:effectLst/>
              </a:rPr>
              <a:t>Supports deployment on web platforms</a:t>
            </a:r>
            <a:r>
              <a:rPr lang="en-IN" dirty="0">
                <a:effectLst/>
              </a:rPr>
              <a:t> for broad accessibility.</a:t>
            </a:r>
          </a:p>
          <a:p>
            <a:pPr lvl="0"/>
            <a:r>
              <a:rPr lang="en-IN" b="1" dirty="0">
                <a:effectLst/>
              </a:rPr>
              <a:t>Improves inclusivity in social, educational, and professional spaces.</a:t>
            </a:r>
            <a:endParaRPr lang="en-IN" dirty="0">
              <a:effectLst/>
            </a:endParaRPr>
          </a:p>
          <a:p>
            <a:pPr lvl="0"/>
            <a:r>
              <a:rPr lang="en-IN" b="1" dirty="0">
                <a:effectLst/>
              </a:rPr>
              <a:t>Reduces dependency on human interpreters</a:t>
            </a:r>
            <a:r>
              <a:rPr lang="en-IN" dirty="0">
                <a:effectLst/>
              </a:rPr>
              <a:t> for basic sign communication.</a:t>
            </a:r>
          </a:p>
          <a:p>
            <a:pPr lvl="0"/>
            <a:r>
              <a:rPr lang="en-IN" b="1" dirty="0">
                <a:effectLst/>
              </a:rPr>
              <a:t>Scalable and adaptable for future multi-language and gesture extensions.</a:t>
            </a:r>
            <a:endParaRPr lang="en-IN" dirty="0">
              <a:effectLst/>
            </a:endParaRPr>
          </a:p>
          <a:p>
            <a:pPr lvl="0"/>
            <a:r>
              <a:rPr lang="en-IN" b="1" dirty="0">
                <a:effectLst/>
              </a:rPr>
              <a:t>User-friendly and non-invasive</a:t>
            </a:r>
            <a:r>
              <a:rPr lang="en-IN" dirty="0">
                <a:effectLst/>
              </a:rPr>
              <a:t> for everyday communication scenarios.</a:t>
            </a:r>
          </a:p>
          <a:p>
            <a:pPr lvl="0"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2189286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LITERATURE </a:t>
            </a:r>
            <a:r>
              <a:rPr lang="en-IN" b="1" dirty="0" smtClean="0"/>
              <a:t>SURVEY</a:t>
            </a:r>
            <a:endParaRPr lang="en-US" dirty="0"/>
          </a:p>
        </p:txBody>
      </p:sp>
      <p:sp>
        <p:nvSpPr>
          <p:cNvPr id="3" name="Content Placeholder 2"/>
          <p:cNvSpPr>
            <a:spLocks noGrp="1"/>
          </p:cNvSpPr>
          <p:nvPr>
            <p:ph idx="1"/>
          </p:nvPr>
        </p:nvSpPr>
        <p:spPr/>
        <p:txBody>
          <a:bodyPr>
            <a:normAutofit fontScale="77500" lnSpcReduction="20000"/>
          </a:bodyPr>
          <a:lstStyle/>
          <a:p>
            <a:r>
              <a:rPr lang="en-IN" b="1" dirty="0" smtClean="0"/>
              <a:t>Title</a:t>
            </a:r>
            <a:r>
              <a:rPr lang="en-IN" dirty="0" smtClean="0"/>
              <a:t>	  : Hand Sign Recognition Based on Computer Vision: A Review of Techniques</a:t>
            </a:r>
            <a:endParaRPr lang="en-US" dirty="0" smtClean="0"/>
          </a:p>
          <a:p>
            <a:r>
              <a:rPr lang="en-IN" b="1" dirty="0" smtClean="0"/>
              <a:t>Author</a:t>
            </a:r>
            <a:r>
              <a:rPr lang="en-IN" dirty="0" smtClean="0"/>
              <a:t> : </a:t>
            </a:r>
            <a:r>
              <a:rPr lang="en-IN" dirty="0" err="1" smtClean="0"/>
              <a:t>Munir</a:t>
            </a:r>
            <a:r>
              <a:rPr lang="en-IN" dirty="0" smtClean="0"/>
              <a:t> </a:t>
            </a:r>
            <a:r>
              <a:rPr lang="en-IN" dirty="0" err="1" smtClean="0"/>
              <a:t>Oudah</a:t>
            </a:r>
            <a:r>
              <a:rPr lang="en-IN" dirty="0" smtClean="0"/>
              <a:t> 1 , Ali Al-</a:t>
            </a:r>
            <a:r>
              <a:rPr lang="en-IN" dirty="0" err="1" smtClean="0"/>
              <a:t>Naji</a:t>
            </a:r>
            <a:r>
              <a:rPr lang="en-IN" dirty="0" smtClean="0"/>
              <a:t> 1,2,* and </a:t>
            </a:r>
            <a:r>
              <a:rPr lang="en-IN" dirty="0" err="1" smtClean="0"/>
              <a:t>Javaan</a:t>
            </a:r>
            <a:r>
              <a:rPr lang="en-IN" dirty="0" smtClean="0"/>
              <a:t> </a:t>
            </a:r>
            <a:r>
              <a:rPr lang="en-IN" dirty="0" err="1" smtClean="0"/>
              <a:t>Chahl</a:t>
            </a:r>
            <a:r>
              <a:rPr lang="en-IN" dirty="0" smtClean="0"/>
              <a:t> 2</a:t>
            </a:r>
            <a:endParaRPr lang="en-US" dirty="0" smtClean="0"/>
          </a:p>
          <a:p>
            <a:r>
              <a:rPr lang="en-IN" b="1" dirty="0" smtClean="0"/>
              <a:t>Year</a:t>
            </a:r>
            <a:r>
              <a:rPr lang="en-IN" dirty="0" smtClean="0"/>
              <a:t>	 : 2020</a:t>
            </a:r>
            <a:endParaRPr lang="en-US" dirty="0" smtClean="0"/>
          </a:p>
          <a:p>
            <a:r>
              <a:rPr lang="en-IN" dirty="0" smtClean="0"/>
              <a:t>Hand Signs are a form of nonverbal communication that can be used in several fields such as communication between deaf-mute people, robot control, human–computer interaction (HCI), home automation and medical applications. Research papers based on hand Signs have adopted many different techniques, including those based on instrumented sensor technology and computer vision. In other words, the hand sign can be classified under many headings, such as posture and Sign, as well as dynamic and static, or a hybrid of the two. This paper focuses on a review of the literature on hand Sign techniques and introduces their merits and limitations under different circumstances. In addition, it tabulates the performance of these methods, focusing on computer vision techniques that deal with the similarity and difference points, technique of hand segmentation used, classification algorithms and drawbacks, number and types of Signs, dataset used, detection range (distance) and type of camera used. This paper is a thorough general overview of hand Sign methods with a brief discussion of some possible applications.</a:t>
            </a:r>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LITERATURE </a:t>
            </a:r>
            <a:r>
              <a:rPr lang="en-IN" b="1" dirty="0" smtClean="0"/>
              <a:t>SURVEY</a:t>
            </a:r>
            <a:endParaRPr lang="en-US" dirty="0"/>
          </a:p>
        </p:txBody>
      </p:sp>
      <p:sp>
        <p:nvSpPr>
          <p:cNvPr id="3" name="Content Placeholder 2"/>
          <p:cNvSpPr>
            <a:spLocks noGrp="1"/>
          </p:cNvSpPr>
          <p:nvPr>
            <p:ph idx="1"/>
          </p:nvPr>
        </p:nvSpPr>
        <p:spPr/>
        <p:txBody>
          <a:bodyPr>
            <a:normAutofit fontScale="92500"/>
          </a:bodyPr>
          <a:lstStyle/>
          <a:p>
            <a:r>
              <a:rPr lang="en-IN" b="1" dirty="0" smtClean="0"/>
              <a:t>Title</a:t>
            </a:r>
            <a:r>
              <a:rPr lang="en-IN" dirty="0" smtClean="0"/>
              <a:t>	  : Hand Sign Recognition with Skin Detection and Deep Learning Method</a:t>
            </a:r>
            <a:endParaRPr lang="en-US" dirty="0" smtClean="0"/>
          </a:p>
          <a:p>
            <a:r>
              <a:rPr lang="en-IN" b="1" dirty="0" smtClean="0"/>
              <a:t>Author</a:t>
            </a:r>
            <a:r>
              <a:rPr lang="en-IN" dirty="0" smtClean="0"/>
              <a:t> : </a:t>
            </a:r>
            <a:r>
              <a:rPr lang="en-IN" dirty="0" err="1" smtClean="0"/>
              <a:t>Hanwen</a:t>
            </a:r>
            <a:r>
              <a:rPr lang="en-IN" dirty="0" smtClean="0"/>
              <a:t> Huang1 , </a:t>
            </a:r>
            <a:r>
              <a:rPr lang="en-IN" dirty="0" err="1" smtClean="0"/>
              <a:t>Yanwen</a:t>
            </a:r>
            <a:r>
              <a:rPr lang="en-IN" dirty="0" smtClean="0"/>
              <a:t> Chong2*</a:t>
            </a:r>
            <a:endParaRPr lang="en-US" dirty="0" smtClean="0"/>
          </a:p>
          <a:p>
            <a:r>
              <a:rPr lang="en-IN" b="1" dirty="0" smtClean="0"/>
              <a:t>Year</a:t>
            </a:r>
            <a:r>
              <a:rPr lang="en-IN" dirty="0" smtClean="0"/>
              <a:t>	 : 2019</a:t>
            </a:r>
            <a:endParaRPr lang="en-US" dirty="0" smtClean="0"/>
          </a:p>
          <a:p>
            <a:r>
              <a:rPr lang="en-IN" dirty="0" smtClean="0"/>
              <a:t>Sign recognition, although has been exploring for many years, is still a challenging problem. Complex background, camera angles and illumination conditions make the problem more difficult. Thus, this paper presents a fast and robust method for hand Sign recognition based on RGB video. First we detect the skin based on their </a:t>
            </a:r>
            <a:r>
              <a:rPr lang="en-IN" dirty="0" err="1" smtClean="0"/>
              <a:t>color</a:t>
            </a:r>
            <a:r>
              <a:rPr lang="en-IN" dirty="0" smtClean="0"/>
              <a:t>. Then we extract the contour and segment the hand region. Finally we recognize the Sign. The results of experiment demonstrate that the proposed method are efficient to recognize Sign with a higher accuracy than the state of the art.</a:t>
            </a:r>
            <a:endParaRPr lang="en-US" dirty="0" smtClean="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LITERATURE </a:t>
            </a:r>
            <a:r>
              <a:rPr lang="en-IN" b="1" dirty="0" smtClean="0"/>
              <a:t>SURVEY</a:t>
            </a:r>
            <a:endParaRPr lang="en-US" dirty="0"/>
          </a:p>
        </p:txBody>
      </p:sp>
      <p:sp>
        <p:nvSpPr>
          <p:cNvPr id="3" name="Content Placeholder 2"/>
          <p:cNvSpPr>
            <a:spLocks noGrp="1"/>
          </p:cNvSpPr>
          <p:nvPr>
            <p:ph idx="1"/>
          </p:nvPr>
        </p:nvSpPr>
        <p:spPr/>
        <p:txBody>
          <a:bodyPr>
            <a:normAutofit fontScale="85000" lnSpcReduction="10000"/>
          </a:bodyPr>
          <a:lstStyle/>
          <a:p>
            <a:r>
              <a:rPr lang="en-IN" b="1" dirty="0" smtClean="0"/>
              <a:t>Title</a:t>
            </a:r>
            <a:r>
              <a:rPr lang="en-IN" dirty="0" smtClean="0"/>
              <a:t>	  : Hand Sign Recognition System Using Camera</a:t>
            </a:r>
            <a:endParaRPr lang="en-US" dirty="0" smtClean="0"/>
          </a:p>
          <a:p>
            <a:r>
              <a:rPr lang="en-IN" b="1" dirty="0" smtClean="0"/>
              <a:t>Author</a:t>
            </a:r>
            <a:r>
              <a:rPr lang="en-IN" dirty="0" smtClean="0"/>
              <a:t> : </a:t>
            </a:r>
            <a:r>
              <a:rPr lang="en-IN" dirty="0" err="1" smtClean="0"/>
              <a:t>Viraj</a:t>
            </a:r>
            <a:r>
              <a:rPr lang="en-IN" dirty="0" smtClean="0"/>
              <a:t> </a:t>
            </a:r>
            <a:r>
              <a:rPr lang="en-IN" dirty="0" err="1" smtClean="0"/>
              <a:t>Shinde</a:t>
            </a:r>
            <a:r>
              <a:rPr lang="en-IN" dirty="0" smtClean="0"/>
              <a:t>, </a:t>
            </a:r>
            <a:r>
              <a:rPr lang="en-IN" dirty="0" err="1" smtClean="0"/>
              <a:t>Tushar</a:t>
            </a:r>
            <a:r>
              <a:rPr lang="en-IN" dirty="0" smtClean="0"/>
              <a:t> </a:t>
            </a:r>
            <a:r>
              <a:rPr lang="en-IN" dirty="0" err="1" smtClean="0"/>
              <a:t>Bacchav</a:t>
            </a:r>
            <a:r>
              <a:rPr lang="en-IN" dirty="0" smtClean="0"/>
              <a:t>, </a:t>
            </a:r>
            <a:r>
              <a:rPr lang="en-IN" dirty="0" err="1" smtClean="0"/>
              <a:t>Jitendra</a:t>
            </a:r>
            <a:r>
              <a:rPr lang="en-IN" dirty="0" smtClean="0"/>
              <a:t> </a:t>
            </a:r>
            <a:r>
              <a:rPr lang="en-IN" dirty="0" err="1" smtClean="0"/>
              <a:t>Pawar</a:t>
            </a:r>
            <a:endParaRPr lang="en-US" dirty="0" smtClean="0"/>
          </a:p>
          <a:p>
            <a:r>
              <a:rPr lang="en-IN" b="1" dirty="0" smtClean="0"/>
              <a:t>Year</a:t>
            </a:r>
            <a:r>
              <a:rPr lang="en-IN" dirty="0" smtClean="0"/>
              <a:t>	 : 2014</a:t>
            </a:r>
            <a:endParaRPr lang="en-US" dirty="0" smtClean="0"/>
          </a:p>
          <a:p>
            <a:r>
              <a:rPr lang="en-IN" dirty="0" smtClean="0"/>
              <a:t>In this paper, we focus on using pointing </a:t>
            </a:r>
            <a:r>
              <a:rPr lang="en-IN" dirty="0" err="1" smtClean="0"/>
              <a:t>behavior</a:t>
            </a:r>
            <a:r>
              <a:rPr lang="en-IN" dirty="0" smtClean="0"/>
              <a:t> for a natural interface, Hand Sign recognition based human-machine interface is being developed vigorously in recent years. Due to the effect of lighting and complex background, most visual hand Sign recognition systems work only under restricted environment. To classify the dynamic hand Signs, we developed a simple and fast motion history image based method. In recent years, the Sign control technique has become a new developmental trend for many human-based electronics products. This technique let people can control these products more naturally, intuitively and conveniently. In this paper, a fast Sign recognition scheme is proposed to be an interface for the human-machine interaction (HMI) of systems. This paper presents some low-complexity algorithms and Signs to reduce the Sign recognition complexity and be more suitable for controlling real-time computer systems.</a:t>
            </a: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LITERATURE </a:t>
            </a:r>
            <a:r>
              <a:rPr lang="en-IN" b="1" dirty="0" smtClean="0"/>
              <a:t>SURVEY</a:t>
            </a:r>
            <a:endParaRPr lang="en-US" dirty="0"/>
          </a:p>
        </p:txBody>
      </p:sp>
      <p:sp>
        <p:nvSpPr>
          <p:cNvPr id="3" name="Content Placeholder 2"/>
          <p:cNvSpPr>
            <a:spLocks noGrp="1"/>
          </p:cNvSpPr>
          <p:nvPr>
            <p:ph idx="1"/>
          </p:nvPr>
        </p:nvSpPr>
        <p:spPr/>
        <p:txBody>
          <a:bodyPr>
            <a:normAutofit fontScale="85000" lnSpcReduction="20000"/>
          </a:bodyPr>
          <a:lstStyle/>
          <a:p>
            <a:r>
              <a:rPr lang="en-IN" b="1" dirty="0" smtClean="0"/>
              <a:t>Title</a:t>
            </a:r>
            <a:r>
              <a:rPr lang="en-IN" dirty="0" smtClean="0"/>
              <a:t>	  : Static Hand Sign Recognition using </a:t>
            </a:r>
            <a:r>
              <a:rPr lang="en-IN" dirty="0" err="1" smtClean="0"/>
              <a:t>Convolutional</a:t>
            </a:r>
            <a:r>
              <a:rPr lang="en-IN" dirty="0" smtClean="0"/>
              <a:t> Neural Network with Data Augmentation</a:t>
            </a:r>
            <a:endParaRPr lang="en-US" dirty="0" smtClean="0"/>
          </a:p>
          <a:p>
            <a:r>
              <a:rPr lang="en-IN" b="1" dirty="0" smtClean="0"/>
              <a:t>Author</a:t>
            </a:r>
            <a:r>
              <a:rPr lang="en-IN" dirty="0" smtClean="0"/>
              <a:t> : Md. </a:t>
            </a:r>
            <a:r>
              <a:rPr lang="en-IN" dirty="0" err="1" smtClean="0"/>
              <a:t>Zahirul</a:t>
            </a:r>
            <a:r>
              <a:rPr lang="en-IN" dirty="0" smtClean="0"/>
              <a:t> Islam, Mohammad </a:t>
            </a:r>
            <a:r>
              <a:rPr lang="en-IN" dirty="0" err="1" smtClean="0"/>
              <a:t>Shahadat</a:t>
            </a:r>
            <a:r>
              <a:rPr lang="en-IN" dirty="0" smtClean="0"/>
              <a:t> </a:t>
            </a:r>
            <a:r>
              <a:rPr lang="en-IN" dirty="0" err="1" smtClean="0"/>
              <a:t>Hossain</a:t>
            </a:r>
            <a:endParaRPr lang="en-US" dirty="0" smtClean="0"/>
          </a:p>
          <a:p>
            <a:r>
              <a:rPr lang="en-IN" dirty="0" smtClean="0"/>
              <a:t>Computer is a part and parcel in our day to day life and used in various fields. The interaction of human and computer is accomplished by traditional input devices like mouse, keyboard etc. Hand Signs can be a useful medium of human-computer interaction and can make the interaction easier. Signs vary in orientation and shape from person to person. So, non-linearity exists in this problem. Recent research has proved the supremacy of </a:t>
            </a:r>
            <a:r>
              <a:rPr lang="en-IN" dirty="0" err="1" smtClean="0"/>
              <a:t>Convolutional</a:t>
            </a:r>
            <a:r>
              <a:rPr lang="en-IN" dirty="0" smtClean="0"/>
              <a:t> Neural Network (CNN) for image representation and classification. Since, CNN can learn complex and non-linear relationships among images, in this paper, a static hand Sign recognition method using CNN was proposed. Data augmentation like re-scaling, zooming, shearing, rotation, width and height shifting was applied to the dataset. The model was trained on 8000 images and tested on 1600 images which were divided into 10 classes. The model with augmented data achieved accuracy 97.12% which is nearly 4% higher than the model without augmentation (92.87%).</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LITERATURE </a:t>
            </a:r>
            <a:r>
              <a:rPr lang="en-IN" b="1" dirty="0" smtClean="0"/>
              <a:t>SURVEY</a:t>
            </a:r>
            <a:endParaRPr lang="en-US" dirty="0"/>
          </a:p>
        </p:txBody>
      </p:sp>
      <p:sp>
        <p:nvSpPr>
          <p:cNvPr id="3" name="Content Placeholder 2"/>
          <p:cNvSpPr>
            <a:spLocks noGrp="1"/>
          </p:cNvSpPr>
          <p:nvPr>
            <p:ph idx="1"/>
          </p:nvPr>
        </p:nvSpPr>
        <p:spPr/>
        <p:txBody>
          <a:bodyPr>
            <a:normAutofit fontScale="92500" lnSpcReduction="10000"/>
          </a:bodyPr>
          <a:lstStyle/>
          <a:p>
            <a:r>
              <a:rPr lang="en-IN" b="1" dirty="0" smtClean="0"/>
              <a:t>Title</a:t>
            </a:r>
            <a:r>
              <a:rPr lang="en-IN" dirty="0" smtClean="0"/>
              <a:t>	  : Real-Time Hand Sign Recognition Using Finger Segmentation</a:t>
            </a:r>
            <a:endParaRPr lang="en-US" dirty="0" smtClean="0"/>
          </a:p>
          <a:p>
            <a:r>
              <a:rPr lang="en-IN" b="1" dirty="0" smtClean="0"/>
              <a:t>Author</a:t>
            </a:r>
            <a:r>
              <a:rPr lang="en-IN" dirty="0" smtClean="0"/>
              <a:t> : </a:t>
            </a:r>
            <a:r>
              <a:rPr lang="en-IN" dirty="0" err="1" smtClean="0"/>
              <a:t>Zhi-hua</a:t>
            </a:r>
            <a:r>
              <a:rPr lang="en-IN" dirty="0" smtClean="0"/>
              <a:t> Chen,1 Jung-Tae Kim,1 </a:t>
            </a:r>
            <a:r>
              <a:rPr lang="en-IN" dirty="0" err="1" smtClean="0"/>
              <a:t>Jianning</a:t>
            </a:r>
            <a:r>
              <a:rPr lang="en-IN" dirty="0" smtClean="0"/>
              <a:t> Liang</a:t>
            </a:r>
            <a:endParaRPr lang="en-US" dirty="0" smtClean="0"/>
          </a:p>
          <a:p>
            <a:r>
              <a:rPr lang="en-IN" b="1" dirty="0" smtClean="0"/>
              <a:t>Year</a:t>
            </a:r>
            <a:r>
              <a:rPr lang="en-IN" dirty="0" smtClean="0"/>
              <a:t>	 : 2014</a:t>
            </a:r>
            <a:endParaRPr lang="en-US" dirty="0" smtClean="0"/>
          </a:p>
          <a:p>
            <a:r>
              <a:rPr lang="en-IN" dirty="0" smtClean="0"/>
              <a:t>Hand Sign recognition is very significant for human-computer interaction. In this work, we present a novel real-time method for hand Sign recognition. In our framework, the hand region is extracted from the background with the background subtraction method. Then, the palm and fingers are segmented so as to detect and recognize the fingers. Finally, a rule classifier is applied to predict the labels of hand Signs. The experiments on the data set of 1300 images show that our method performs well and is highly efficient. Moreover, our method shows better performance than a state-of-art method on another data set of hand Signs.</a:t>
            </a:r>
            <a:endParaRPr lang="en-US" dirty="0" smtClean="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4" name="Content Placeholder 3" descr="C:\Users\user\Downloads\Untitled Diagram-Sys Arch-Sys Arch.drawio.png"/>
          <p:cNvPicPr>
            <a:picLocks noGrp="1"/>
          </p:cNvPicPr>
          <p:nvPr>
            <p:ph idx="1"/>
          </p:nvPr>
        </p:nvPicPr>
        <p:blipFill>
          <a:blip r:embed="rId2"/>
          <a:srcRect/>
          <a:stretch>
            <a:fillRect/>
          </a:stretch>
        </p:blipFill>
        <p:spPr bwMode="auto">
          <a:xfrm>
            <a:off x="4285795" y="2603500"/>
            <a:ext cx="4084481" cy="34163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ENVIRONMENT REQUIREMENTS:</a:t>
            </a:r>
            <a:r>
              <a:rPr lang="en-IN" dirty="0"/>
              <a:t/>
            </a:r>
            <a:br>
              <a:rPr lang="en-IN" dirty="0"/>
            </a:br>
            <a:endParaRPr lang="en-IN" dirty="0"/>
          </a:p>
        </p:txBody>
      </p:sp>
      <p:sp>
        <p:nvSpPr>
          <p:cNvPr id="3" name="Content Placeholder 2"/>
          <p:cNvSpPr>
            <a:spLocks noGrp="1"/>
          </p:cNvSpPr>
          <p:nvPr>
            <p:ph idx="1"/>
          </p:nvPr>
        </p:nvSpPr>
        <p:spPr/>
        <p:txBody>
          <a:bodyPr>
            <a:normAutofit/>
          </a:bodyPr>
          <a:lstStyle/>
          <a:p>
            <a:r>
              <a:rPr lang="en-IN" dirty="0"/>
              <a:t>1. Software Requirements:</a:t>
            </a:r>
          </a:p>
          <a:p>
            <a:r>
              <a:rPr lang="en-IN" dirty="0"/>
              <a:t>Operating System 		: Windows </a:t>
            </a:r>
          </a:p>
          <a:p>
            <a:r>
              <a:rPr lang="en-IN" dirty="0"/>
              <a:t> Tool   			: Anaconda with </a:t>
            </a:r>
            <a:r>
              <a:rPr lang="en-IN" dirty="0" err="1"/>
              <a:t>Jupyter</a:t>
            </a:r>
            <a:r>
              <a:rPr lang="en-IN" dirty="0"/>
              <a:t> Notebook</a:t>
            </a:r>
          </a:p>
          <a:p>
            <a:r>
              <a:rPr lang="en-IN" dirty="0"/>
              <a:t>2. Hardware requirements:</a:t>
            </a:r>
          </a:p>
          <a:p>
            <a:r>
              <a:rPr lang="en-IN" dirty="0"/>
              <a:t>Processor   			: </a:t>
            </a:r>
            <a:r>
              <a:rPr lang="en-IN" dirty="0">
                <a:hlinkClick r:id="rId2"/>
              </a:rPr>
              <a:t>Intel® Core™ i7 processor 14650HX (30M Cache, up to 5.20 GHz)</a:t>
            </a:r>
            <a:endParaRPr lang="en-IN" dirty="0"/>
          </a:p>
          <a:p>
            <a:r>
              <a:rPr lang="en-IN" dirty="0"/>
              <a:t>Hard disk   			: minimum 80 GB</a:t>
            </a:r>
          </a:p>
          <a:p>
            <a:r>
              <a:rPr lang="en-IN"/>
              <a:t>RAM        			: minimum 4 GB</a:t>
            </a:r>
          </a:p>
          <a:p>
            <a:endParaRPr lang="en-IN" dirty="0"/>
          </a:p>
        </p:txBody>
      </p:sp>
    </p:spTree>
    <p:extLst>
      <p:ext uri="{BB962C8B-B14F-4D97-AF65-F5344CB8AC3E}">
        <p14:creationId xmlns:p14="http://schemas.microsoft.com/office/powerpoint/2010/main" xmlns="" val="30231157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xmlns="" name="Ion Boardroom" id="{FC33163D-4339-46B1-8EED-24C834239D99}" vid="{EC7F02AD-9687-440F-A9DF-FAA6F22270D7}"/>
    </a:ext>
  </a:extLst>
</a:theme>
</file>

<file path=docProps/app.xml><?xml version="1.0" encoding="utf-8"?>
<Properties xmlns="http://schemas.openxmlformats.org/officeDocument/2006/extended-properties" xmlns:vt="http://schemas.openxmlformats.org/officeDocument/2006/docPropsVTypes">
  <Template>TM02900722[[fn=Ion Boardroom]]</Template>
  <TotalTime>139</TotalTime>
  <Words>668</Words>
  <Application>Microsoft Office PowerPoint</Application>
  <PresentationFormat>Custom</PresentationFormat>
  <Paragraphs>55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Ion Boardroom</vt:lpstr>
      <vt:lpstr>DEEP LEARNING–BASED HAND GESTURE RECOGNITION FOR SIGN LANGUAGE TRANSLATING VISUAL GESTURES INTO REAL-TIME TEXTUAL COMMUNICATION.</vt:lpstr>
      <vt:lpstr>ABSTRACT : </vt:lpstr>
      <vt:lpstr>EXISTING SYSTEM: </vt:lpstr>
      <vt:lpstr>DISADVANTAGES: </vt:lpstr>
      <vt:lpstr>PROPOSED SYSTEM: </vt:lpstr>
      <vt:lpstr>PROPOSED SYSTEM ADVANTAGES:</vt:lpstr>
      <vt:lpstr>LITERATURE SURVEY</vt:lpstr>
      <vt:lpstr>LITERATURE SURVEY</vt:lpstr>
      <vt:lpstr>LITERATURE SURVEY</vt:lpstr>
      <vt:lpstr>LITERATURE SURVEY</vt:lpstr>
      <vt:lpstr>LITERATURE SURVEY</vt:lpstr>
      <vt:lpstr>System Architecture</vt:lpstr>
      <vt:lpstr>ENVIRONMENT REQUIREMENTS: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 ANDROID RANSOMWARE ATTACK USING CATEGORICAL CLASSIFICATION. </dc:title>
  <dc:creator>SPIRO-PYTHON</dc:creator>
  <cp:lastModifiedBy>user</cp:lastModifiedBy>
  <cp:revision>46</cp:revision>
  <dcterms:created xsi:type="dcterms:W3CDTF">2023-07-15T05:09:13Z</dcterms:created>
  <dcterms:modified xsi:type="dcterms:W3CDTF">2026-01-06T13:28:46Z</dcterms:modified>
</cp:coreProperties>
</file>